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3383280"/>
            <a:ext cx="9448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From Anvils to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94F37"/>
                </a:solidFill>
              </a:rPr>
              <a:t>Two Transitions, One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A0A8C0"/>
                </a:solidFill>
              </a:rPr>
              <a:t>WCCCE 2026 — Keynote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Computer Science?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So we can build things that delight customers</a:t>
            </a:r>
            <a:r>
              <a:rPr sz="2200" b="0" i="0">
                <a:solidFill>
                  <a:srgbClr val="F5F5F5"/>
                </a:solidFill>
              </a:rPr>
              <a:t> — real people with real problems, who should leave </a:t>
            </a:r>
            <a:r>
              <a:rPr sz="2200" b="1" i="0">
                <a:solidFill>
                  <a:srgbClr val="F5F5F5"/>
                </a:solidFill>
              </a:rPr>
              <a:t>glad</a:t>
            </a:r>
            <a:r>
              <a:rPr sz="2200" b="0" i="0">
                <a:solidFill>
                  <a:srgbClr val="F5F5F5"/>
                </a:solidFill>
              </a:rPr>
              <a:t> we existed.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Everything else is in service of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Where We Drifted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We began to treat </a:t>
            </a:r>
            <a:r>
              <a:rPr sz="2200" b="1" i="0">
                <a:solidFill>
                  <a:srgbClr val="F5F5F5"/>
                </a:solidFill>
              </a:rPr>
              <a:t>incantations</a:t>
            </a:r>
            <a:r>
              <a:rPr sz="2200" b="0" i="0">
                <a:solidFill>
                  <a:srgbClr val="F5F5F5"/>
                </a:solidFill>
              </a:rPr>
              <a:t> — syntax, rituals, the canon — as if they were </a:t>
            </a:r>
            <a:r>
              <a:rPr sz="2200" b="1" i="0">
                <a:solidFill>
                  <a:srgbClr val="F5F5F5"/>
                </a:solidFill>
              </a:rPr>
              <a:t>the degree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We </a:t>
            </a:r>
            <a:r>
              <a:rPr sz="2200" b="1" i="0">
                <a:solidFill>
                  <a:srgbClr val="F5F5F5"/>
                </a:solidFill>
              </a:rPr>
              <a:t>forgot</a:t>
            </a:r>
            <a:r>
              <a:rPr sz="2200" b="0" i="0">
                <a:solidFill>
                  <a:srgbClr val="F5F5F5"/>
                </a:solidFill>
              </a:rPr>
              <a:t> (or stopped saying out loud) that the mission was </a:t>
            </a:r>
            <a:r>
              <a:rPr sz="2200" b="1" i="0">
                <a:solidFill>
                  <a:srgbClr val="F5F5F5"/>
                </a:solidFill>
              </a:rPr>
              <a:t>teaching students to build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Knowing the spells is not the same as shipping something that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We Taught Was Incantations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Computers demanded </a:t>
            </a:r>
            <a:r>
              <a:rPr sz="2200" b="1" i="0">
                <a:solidFill>
                  <a:srgbClr val="F5F5F5"/>
                </a:solidFill>
              </a:rPr>
              <a:t>precise spells</a:t>
            </a:r>
            <a:r>
              <a:rPr sz="2200" b="0" i="0">
                <a:solidFill>
                  <a:srgbClr val="F5F5F5"/>
                </a:solidFill>
              </a:rPr>
              <a:t> before anything useful happened: </a:t>
            </a:r>
            <a:r>
              <a:rPr sz="2200" b="1" i="0">
                <a:solidFill>
                  <a:srgbClr val="F5F5F5"/>
                </a:solidFill>
              </a:rPr>
              <a:t>source → machine language</a:t>
            </a:r>
            <a:r>
              <a:rPr sz="2200" b="0" i="0">
                <a:solidFill>
                  <a:srgbClr val="F5F5F5"/>
                </a:solidFill>
              </a:rPr>
              <a:t> — hence the </a:t>
            </a:r>
            <a:r>
              <a:rPr sz="2200" b="1" i="0">
                <a:solidFill>
                  <a:srgbClr val="F5F5F5"/>
                </a:solidFill>
              </a:rPr>
              <a:t>compiler</a:t>
            </a:r>
            <a:r>
              <a:rPr sz="2200" b="0" i="0">
                <a:solidFill>
                  <a:srgbClr val="F5F5F5"/>
                </a:solidFill>
              </a:rPr>
              <a:t> and toolchain.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Year one: </a:t>
            </a:r>
            <a:r>
              <a:rPr sz="2200" b="1" i="0">
                <a:solidFill>
                  <a:srgbClr val="F5F5F5"/>
                </a:solidFill>
              </a:rPr>
              <a:t>semicolons, tabs, initialization</a:t>
            </a:r>
            <a:r>
              <a:rPr sz="2200" b="0" i="0">
                <a:solidFill>
                  <a:srgbClr val="F5F5F5"/>
                </a:solidFill>
              </a:rPr>
              <a:t> — if you're lucky, what happens to </a:t>
            </a:r>
            <a:r>
              <a:rPr sz="2200" b="1" i="0">
                <a:solidFill>
                  <a:srgbClr val="F5F5F5"/>
                </a:solidFill>
              </a:rPr>
              <a:t>data in memory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We rarely started from </a:t>
            </a:r>
            <a:r>
              <a:rPr sz="2200" b="1" i="0">
                <a:solidFill>
                  <a:srgbClr val="F5F5F5"/>
                </a:solidFill>
              </a:rPr>
              <a:t>the problem we were solving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Ladder Goes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Algorithms, Big-O</a:t>
            </a:r>
            <a:r>
              <a:rPr sz="2200" b="0" i="0">
                <a:solidFill>
                  <a:srgbClr val="F5F5F5"/>
                </a:solidFill>
              </a:rPr>
              <a:t> — domain incantations. You learn the </a:t>
            </a:r>
            <a:r>
              <a:rPr sz="2200" b="1" i="0">
                <a:solidFill>
                  <a:srgbClr val="F5F5F5"/>
                </a:solidFill>
              </a:rPr>
              <a:t>classics</a:t>
            </a:r>
            <a:r>
              <a:rPr sz="2200" b="0" i="0">
                <a:solidFill>
                  <a:srgbClr val="F5F5F5"/>
                </a:solidFill>
              </a:rPr>
              <a:t>; </a:t>
            </a:r>
            <a:r>
              <a:rPr sz="2200" b="1" i="0">
                <a:solidFill>
                  <a:srgbClr val="F5F5F5"/>
                </a:solidFill>
              </a:rPr>
              <a:t>previous magicians</a:t>
            </a:r>
            <a:r>
              <a:rPr sz="2200" b="0" i="0">
                <a:solidFill>
                  <a:srgbClr val="F5F5F5"/>
                </a:solidFill>
              </a:rPr>
              <a:t> wrote them.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Databases / SQL</a:t>
            </a:r>
            <a:r>
              <a:rPr sz="2200" b="0" i="0">
                <a:solidFill>
                  <a:srgbClr val="F5F5F5"/>
                </a:solidFill>
              </a:rPr>
              <a:t> — store data so you can </a:t>
            </a:r>
            <a:r>
              <a:rPr sz="2200" b="1" i="0">
                <a:solidFill>
                  <a:srgbClr val="F5F5F5"/>
                </a:solidFill>
              </a:rPr>
              <a:t>reach it fast</a:t>
            </a:r>
            <a:r>
              <a:rPr sz="2200" b="0" i="0">
                <a:solidFill>
                  <a:srgbClr val="F5F5F5"/>
                </a:solidFill>
              </a:rPr>
              <a:t> and </a:t>
            </a:r>
            <a:r>
              <a:rPr sz="2200" b="1" i="0">
                <a:solidFill>
                  <a:srgbClr val="F5F5F5"/>
                </a:solidFill>
              </a:rPr>
              <a:t>ask questions</a:t>
            </a:r>
            <a:r>
              <a:rPr sz="2200" b="0" i="0">
                <a:solidFill>
                  <a:srgbClr val="F5F5F5"/>
                </a:solidFill>
              </a:rPr>
              <a:t>. The spells get </a:t>
            </a:r>
            <a:r>
              <a:rPr sz="2200" b="1" i="0">
                <a:solidFill>
                  <a:srgbClr val="F5F5F5"/>
                </a:solidFill>
              </a:rPr>
              <a:t>closer to English</a:t>
            </a:r>
            <a:r>
              <a:rPr sz="2200" b="0" i="0">
                <a:solidFill>
                  <a:srgbClr val="F5F5F5"/>
                </a:solidFill>
              </a:rPr>
              <a:t>: </a:t>
            </a:r>
            <a:r>
              <a:rPr sz="2200" b="0" i="1">
                <a:solidFill>
                  <a:srgbClr val="F5F5F5"/>
                </a:solidFill>
              </a:rPr>
              <a:t>select… where…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Pinnacle — and the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Then the </a:t>
            </a:r>
            <a:r>
              <a:rPr sz="2200" b="1" i="0">
                <a:solidFill>
                  <a:srgbClr val="F5F5F5"/>
                </a:solidFill>
              </a:rPr>
              <a:t>big magic</a:t>
            </a:r>
            <a:r>
              <a:rPr sz="2200" b="0" i="0">
                <a:solidFill>
                  <a:srgbClr val="F5F5F5"/>
                </a:solidFill>
              </a:rPr>
              <a:t>: </a:t>
            </a:r>
            <a:r>
              <a:rPr sz="2200" b="1" i="0">
                <a:solidFill>
                  <a:srgbClr val="F5F5F5"/>
                </a:solidFill>
              </a:rPr>
              <a:t>low-level to machine-level</a:t>
            </a:r>
            <a:r>
              <a:rPr sz="2200" b="0" i="0">
                <a:solidFill>
                  <a:srgbClr val="F5F5F5"/>
                </a:solidFill>
              </a:rPr>
              <a:t> — compilers, translation — often the </a:t>
            </a:r>
            <a:r>
              <a:rPr sz="2200" b="1" i="0">
                <a:solidFill>
                  <a:srgbClr val="F5F5F5"/>
                </a:solidFill>
              </a:rPr>
              <a:t>crown</a:t>
            </a:r>
            <a:r>
              <a:rPr sz="2200" b="0" i="0">
                <a:solidFill>
                  <a:srgbClr val="F5F5F5"/>
                </a:solidFill>
              </a:rPr>
              <a:t> of the undergrad program.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We </a:t>
            </a:r>
            <a:r>
              <a:rPr sz="2200" b="1" i="0">
                <a:solidFill>
                  <a:srgbClr val="F5F5F5"/>
                </a:solidFill>
              </a:rPr>
              <a:t>digest</a:t>
            </a:r>
            <a:r>
              <a:rPr sz="2200" b="0" i="0">
                <a:solidFill>
                  <a:srgbClr val="F5F5F5"/>
                </a:solidFill>
              </a:rPr>
              <a:t> the book; you </a:t>
            </a:r>
            <a:r>
              <a:rPr sz="2200" b="1" i="0">
                <a:solidFill>
                  <a:srgbClr val="F5F5F5"/>
                </a:solidFill>
              </a:rPr>
              <a:t>give it back</a:t>
            </a:r>
            <a:r>
              <a:rPr sz="2200" b="0" i="0">
                <a:solidFill>
                  <a:srgbClr val="F5F5F5"/>
                </a:solidFill>
              </a:rPr>
              <a:t> looking like our template. Grades reward </a:t>
            </a:r>
            <a:r>
              <a:rPr sz="2200" b="1" i="0">
                <a:solidFill>
                  <a:srgbClr val="F5F5F5"/>
                </a:solidFill>
              </a:rPr>
              <a:t>mimicry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By </a:t>
            </a:r>
            <a:r>
              <a:rPr sz="2200" b="1" i="0">
                <a:solidFill>
                  <a:srgbClr val="F5F5F5"/>
                </a:solidFill>
              </a:rPr>
              <a:t>year three</a:t>
            </a:r>
            <a:r>
              <a:rPr sz="2200" b="0" i="0">
                <a:solidFill>
                  <a:srgbClr val="F5F5F5"/>
                </a:solidFill>
              </a:rPr>
              <a:t>, many students still haven't </a:t>
            </a:r>
            <a:r>
              <a:rPr sz="2200" b="1" i="0">
                <a:solidFill>
                  <a:srgbClr val="F5F5F5"/>
                </a:solidFill>
              </a:rPr>
              <a:t>built</a:t>
            </a:r>
            <a:r>
              <a:rPr sz="2200" b="0" i="0">
                <a:solidFill>
                  <a:srgbClr val="F5F5F5"/>
                </a:solidFill>
              </a:rPr>
              <a:t> anything except </a:t>
            </a:r>
            <a:r>
              <a:rPr sz="2200" b="1" i="0">
                <a:solidFill>
                  <a:srgbClr val="F5F5F5"/>
                </a:solidFill>
              </a:rPr>
              <a:t>proof they echoed the spellbook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Counselors Know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They push </a:t>
            </a:r>
            <a:r>
              <a:rPr sz="2200" b="1" i="0">
                <a:solidFill>
                  <a:srgbClr val="F5F5F5"/>
                </a:solidFill>
              </a:rPr>
              <a:t>final-year</a:t>
            </a:r>
            <a:r>
              <a:rPr sz="2200" b="0" i="0">
                <a:solidFill>
                  <a:srgbClr val="F5F5F5"/>
                </a:solidFill>
              </a:rPr>
              <a:t> courses where you </a:t>
            </a:r>
            <a:r>
              <a:rPr sz="2200" b="1" i="0">
                <a:solidFill>
                  <a:srgbClr val="F5F5F5"/>
                </a:solidFill>
              </a:rPr>
              <a:t>finally ship</a:t>
            </a:r>
            <a:r>
              <a:rPr sz="2200" b="0" i="0">
                <a:solidFill>
                  <a:srgbClr val="F5F5F5"/>
                </a:solidFill>
              </a:rPr>
              <a:t> something the world might want — as if the first three years were </a:t>
            </a:r>
            <a:r>
              <a:rPr sz="2200" b="1" i="0">
                <a:solidFill>
                  <a:srgbClr val="F5F5F5"/>
                </a:solidFill>
              </a:rPr>
              <a:t>rehearsal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job market still asks for people who </a:t>
            </a:r>
            <a:r>
              <a:rPr sz="2200" b="1" i="0">
                <a:solidFill>
                  <a:srgbClr val="F5F5F5"/>
                </a:solidFill>
              </a:rPr>
              <a:t>delight customers</a:t>
            </a:r>
            <a:r>
              <a:rPr sz="2200" b="0" i="0">
                <a:solidFill>
                  <a:srgbClr val="F5F5F5"/>
                </a:solidFill>
              </a:rPr>
              <a:t> — not </a:t>
            </a:r>
            <a:r>
              <a:rPr sz="2200" b="1" i="0">
                <a:solidFill>
                  <a:srgbClr val="F5F5F5"/>
                </a:solidFill>
              </a:rPr>
              <a:t>only</a:t>
            </a:r>
            <a:r>
              <a:rPr sz="2200" b="0" i="0">
                <a:solidFill>
                  <a:srgbClr val="F5F5F5"/>
                </a:solidFill>
              </a:rPr>
              <a:t> people who ace the canon.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CS Was Never Only About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We taught it that way when we weren't </a:t>
            </a:r>
            <a:r>
              <a:rPr sz="2200" b="1" i="0">
                <a:solidFill>
                  <a:srgbClr val="F5F5F5"/>
                </a:solidFill>
              </a:rPr>
              <a:t>builders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You</a:t>
            </a:r>
            <a:r>
              <a:rPr sz="2200" b="0" i="0">
                <a:solidFill>
                  <a:srgbClr val="F5F5F5"/>
                </a:solidFill>
              </a:rPr>
              <a:t> know the incantations. </a:t>
            </a:r>
            <a:r>
              <a:rPr sz="2200" b="1" i="0">
                <a:solidFill>
                  <a:srgbClr val="F5F5F5"/>
                </a:solidFill>
              </a:rPr>
              <a:t>So does every LLM.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job is no longer </a:t>
            </a:r>
            <a:r>
              <a:rPr sz="2200" b="1" i="0">
                <a:solidFill>
                  <a:srgbClr val="F5F5F5"/>
                </a:solidFill>
              </a:rPr>
              <a:t>teaching incantations</a:t>
            </a:r>
            <a:r>
              <a:rPr sz="2200" b="0" i="0">
                <a:solidFill>
                  <a:srgbClr val="F5F5F5"/>
                </a:solidFill>
              </a:rPr>
              <a:t>. It's </a:t>
            </a:r>
            <a:r>
              <a:rPr sz="2200" b="1" i="0">
                <a:solidFill>
                  <a:srgbClr val="F5F5F5"/>
                </a:solidFill>
              </a:rPr>
              <a:t>teaching how to build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I've Always Been a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What follows isn't random biography. It's the same instinct over and over: </a:t>
            </a:r>
            <a:r>
              <a:rPr sz="2200" b="1" i="0">
                <a:solidFill>
                  <a:srgbClr val="F5F5F5"/>
                </a:solidFill>
              </a:rPr>
              <a:t>make something</a:t>
            </a:r>
            <a:r>
              <a:rPr sz="2200" b="0" i="0">
                <a:solidFill>
                  <a:srgbClr val="F5F5F5"/>
                </a:solidFill>
              </a:rPr>
              <a:t> that </a:t>
            </a:r>
            <a:r>
              <a:rPr sz="2200" b="1" i="0">
                <a:solidFill>
                  <a:srgbClr val="F5F5F5"/>
                </a:solidFill>
              </a:rPr>
              <a:t>changes what happens next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Institutions kept foregrounding </a:t>
            </a:r>
            <a:r>
              <a:rPr sz="2200" b="1" i="0">
                <a:solidFill>
                  <a:srgbClr val="F5F5F5"/>
                </a:solidFill>
              </a:rPr>
              <a:t>incantations</a:t>
            </a:r>
            <a:r>
              <a:rPr sz="2200" b="0" i="0">
                <a:solidFill>
                  <a:srgbClr val="F5F5F5"/>
                </a:solidFill>
              </a:rPr>
              <a:t>. I kept reaching for </a:t>
            </a:r>
            <a:r>
              <a:rPr sz="2200" b="1" i="0">
                <a:solidFill>
                  <a:srgbClr val="F5F5F5"/>
                </a:solidFill>
              </a:rPr>
              <a:t>builds</a:t>
            </a:r>
            <a:r>
              <a:rPr sz="2200" b="0" i="0">
                <a:solidFill>
                  <a:srgbClr val="F5F5F5"/>
                </a:solidFill>
              </a:rPr>
              <a:t> — games, workarounds, tools for real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Grade 2 — Multiplication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teacher kept the tables on her desk. I went home and taught myself to </a:t>
            </a:r>
            <a:r>
              <a:rPr sz="2200" b="1" i="0">
                <a:solidFill>
                  <a:srgbClr val="F5F5F5"/>
                </a:solidFill>
              </a:rPr>
              <a:t>read upside down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My mother asked why. I said: she's showing me the answers — I'll read upside down so I don't have to drill the tables.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 still read upside down. I never really memorized the tables. It hasn't hurt my career.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My First "ChatGPT"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It wasn't magic — it was figuring out the </a:t>
            </a:r>
            <a:r>
              <a:rPr sz="2200" b="1" i="0">
                <a:solidFill>
                  <a:srgbClr val="F5F5F5"/>
                </a:solidFill>
              </a:rPr>
              <a:t>prompt</a:t>
            </a:r>
            <a:r>
              <a:rPr sz="2200" b="0" i="0">
                <a:solidFill>
                  <a:srgbClr val="F5F5F5"/>
                </a:solidFill>
              </a:rPr>
              <a:t>: what to learn, how to position myself, to get the data I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1977 — A Game on a Casio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Programmable calculator.</a:t>
            </a:r>
            <a:r>
              <a:rPr sz="2200" b="0" i="0">
                <a:solidFill>
                  <a:srgbClr val="F5F5F5"/>
                </a:solidFill>
              </a:rPr>
              <a:t> A </a:t>
            </a:r>
            <a:r>
              <a:rPr sz="2200" b="1" i="0">
                <a:solidFill>
                  <a:srgbClr val="F5F5F5"/>
                </a:solidFill>
              </a:rPr>
              <a:t>random</a:t>
            </a:r>
            <a:r>
              <a:rPr sz="2200" b="0" i="0">
                <a:solidFill>
                  <a:srgbClr val="F5F5F5"/>
                </a:solidFill>
              </a:rPr>
              <a:t> target on a </a:t>
            </a:r>
            <a:r>
              <a:rPr sz="2200" b="1" i="0">
                <a:solidFill>
                  <a:srgbClr val="F5F5F5"/>
                </a:solidFill>
              </a:rPr>
              <a:t>100×100</a:t>
            </a:r>
            <a:r>
              <a:rPr sz="2200" b="0" i="0">
                <a:solidFill>
                  <a:srgbClr val="F5F5F5"/>
                </a:solidFill>
              </a:rPr>
              <a:t> grid. You type </a:t>
            </a:r>
            <a:r>
              <a:rPr sz="2200" b="1" i="0">
                <a:solidFill>
                  <a:srgbClr val="F5F5F5"/>
                </a:solidFill>
              </a:rPr>
              <a:t>x</a:t>
            </a:r>
            <a:r>
              <a:rPr sz="2200" b="0" i="0">
                <a:solidFill>
                  <a:srgbClr val="F5F5F5"/>
                </a:solidFill>
              </a:rPr>
              <a:t> and </a:t>
            </a:r>
            <a:r>
              <a:rPr sz="2200" b="1" i="0">
                <a:solidFill>
                  <a:srgbClr val="F5F5F5"/>
                </a:solidFill>
              </a:rPr>
              <a:t>y</a:t>
            </a:r>
            <a:r>
              <a:rPr sz="2200" b="0" i="0">
                <a:solidFill>
                  <a:srgbClr val="F5F5F5"/>
                </a:solidFill>
              </a:rPr>
              <a:t>; it answers with </a:t>
            </a:r>
            <a:r>
              <a:rPr sz="2200" b="1" i="0">
                <a:solidFill>
                  <a:srgbClr val="F5F5F5"/>
                </a:solidFill>
              </a:rPr>
              <a:t>distance</a:t>
            </a:r>
            <a:r>
              <a:rPr sz="2200" b="0" i="0">
                <a:solidFill>
                  <a:srgbClr val="F5F5F5"/>
                </a:solidFill>
              </a:rPr>
              <a:t> to the ship. You </a:t>
            </a:r>
            <a:r>
              <a:rPr sz="2200" b="1" i="0">
                <a:solidFill>
                  <a:srgbClr val="F5F5F5"/>
                </a:solidFill>
              </a:rPr>
              <a:t>close in</a:t>
            </a:r>
            <a:r>
              <a:rPr sz="2200" b="0" i="0">
                <a:solidFill>
                  <a:srgbClr val="F5F5F5"/>
                </a:solidFill>
              </a:rPr>
              <a:t> until you hit it.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Crude </a:t>
            </a:r>
            <a:r>
              <a:rPr sz="2200" b="1" i="0">
                <a:solidFill>
                  <a:srgbClr val="F5F5F5"/>
                </a:solidFill>
              </a:rPr>
              <a:t>Minesweeper</a:t>
            </a:r>
            <a:r>
              <a:rPr sz="2200" b="0" i="0">
                <a:solidFill>
                  <a:srgbClr val="F5F5F5"/>
                </a:solidFill>
              </a:rPr>
              <a:t>-style deduction — tight memory, tiny screen — and </a:t>
            </a:r>
            <a:r>
              <a:rPr sz="2200" b="1" i="0">
                <a:solidFill>
                  <a:srgbClr val="F5F5F5"/>
                </a:solidFill>
              </a:rPr>
              <a:t>fun</a:t>
            </a:r>
            <a:r>
              <a:rPr sz="2200" b="0" i="0">
                <a:solidFill>
                  <a:srgbClr val="F5F5F5"/>
                </a:solidFill>
              </a:rPr>
              <a:t> to 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"That Isn't a Real Computer"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University of Windsor — I wanted to do coursework on my </a:t>
            </a:r>
            <a:r>
              <a:rPr sz="2200" b="1" i="0">
                <a:solidFill>
                  <a:srgbClr val="F5F5F5"/>
                </a:solidFill>
              </a:rPr>
              <a:t>Z-80</a:t>
            </a:r>
            <a:r>
              <a:rPr sz="2200" b="0" i="0">
                <a:solidFill>
                  <a:srgbClr val="F5F5F5"/>
                </a:solidFill>
              </a:rPr>
              <a:t> instead of the lab </a:t>
            </a:r>
            <a:r>
              <a:rPr sz="2200" b="1" i="0">
                <a:solidFill>
                  <a:srgbClr val="F5F5F5"/>
                </a:solidFill>
              </a:rPr>
              <a:t>IBM 360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A professor said I didn't have a </a:t>
            </a:r>
            <a:r>
              <a:rPr sz="2200" b="1" i="0">
                <a:solidFill>
                  <a:srgbClr val="F5F5F5"/>
                </a:solidFill>
              </a:rPr>
              <a:t>real</a:t>
            </a:r>
            <a:r>
              <a:rPr sz="2200" b="0" i="0">
                <a:solidFill>
                  <a:srgbClr val="F5F5F5"/>
                </a:solidFill>
              </a:rPr>
              <a:t> machine: if it wasn't </a:t>
            </a:r>
            <a:r>
              <a:rPr sz="2200" b="1" i="0">
                <a:solidFill>
                  <a:srgbClr val="F5F5F5"/>
                </a:solidFill>
              </a:rPr>
              <a:t>32-bit</a:t>
            </a:r>
            <a:r>
              <a:rPr sz="2200" b="0" i="0">
                <a:solidFill>
                  <a:srgbClr val="F5F5F5"/>
                </a:solidFill>
              </a:rPr>
              <a:t>, it didn't count.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Part of my training, he said, was </a:t>
            </a:r>
            <a:r>
              <a:rPr sz="2200" b="1" i="0">
                <a:solidFill>
                  <a:srgbClr val="F5F5F5"/>
                </a:solidFill>
              </a:rPr>
              <a:t>punch cards</a:t>
            </a:r>
            <a:r>
              <a:rPr sz="2200" b="0" i="0">
                <a:solidFill>
                  <a:srgbClr val="F5F5F5"/>
                </a:solidFill>
              </a:rPr>
              <a:t> — because that's how you drove the </a:t>
            </a:r>
            <a:r>
              <a:rPr sz="2200" b="1" i="0">
                <a:solidFill>
                  <a:srgbClr val="F5F5F5"/>
                </a:solidFill>
              </a:rPr>
              <a:t>IBM 360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Better Machine — Same Ritual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Year three: Computing Services bought a </a:t>
            </a:r>
            <a:r>
              <a:rPr sz="2200" b="1" i="0">
                <a:solidFill>
                  <a:srgbClr val="F5F5F5"/>
                </a:solidFill>
              </a:rPr>
              <a:t>DEC VAX 780</a:t>
            </a:r>
            <a:r>
              <a:rPr sz="2200" b="0" i="0">
                <a:solidFill>
                  <a:srgbClr val="F5F5F5"/>
                </a:solidFill>
              </a:rPr>
              <a:t> — better than the 360, a </a:t>
            </a:r>
            <a:r>
              <a:rPr sz="2200" b="1" i="0">
                <a:solidFill>
                  <a:srgbClr val="F5F5F5"/>
                </a:solidFill>
              </a:rPr>
              <a:t>room of terminals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</a:t>
            </a:r>
            <a:r>
              <a:rPr sz="2200" b="1" i="0">
                <a:solidFill>
                  <a:srgbClr val="F5F5F5"/>
                </a:solidFill>
              </a:rPr>
              <a:t>same professor</a:t>
            </a:r>
            <a:r>
              <a:rPr sz="2200" b="0" i="0">
                <a:solidFill>
                  <a:srgbClr val="F5F5F5"/>
                </a:solidFill>
              </a:rPr>
              <a:t> had the VAX wired as a </a:t>
            </a:r>
            <a:r>
              <a:rPr sz="2200" b="1" i="0">
                <a:solidFill>
                  <a:srgbClr val="F5F5F5"/>
                </a:solidFill>
              </a:rPr>
              <a:t>line-editor front end to the 360</a:t>
            </a:r>
            <a:r>
              <a:rPr sz="2200" b="0" i="0">
                <a:solidFill>
                  <a:srgbClr val="F5F5F5"/>
                </a:solidFill>
              </a:rPr>
              <a:t>: edit like punch cards, </a:t>
            </a:r>
            <a:r>
              <a:rPr sz="2200" b="1" i="0">
                <a:solidFill>
                  <a:srgbClr val="F5F5F5"/>
                </a:solidFill>
              </a:rPr>
              <a:t>batch to the 360</a:t>
            </a:r>
            <a:r>
              <a:rPr sz="2200" b="0" i="0">
                <a:solidFill>
                  <a:srgbClr val="F5F5F5"/>
                </a:solidFill>
              </a:rPr>
              <a:t>, pick up printouts at the </a:t>
            </a:r>
            <a:r>
              <a:rPr sz="2200" b="1" i="0">
                <a:solidFill>
                  <a:srgbClr val="F5F5F5"/>
                </a:solidFill>
              </a:rPr>
              <a:t>IOL window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</a:t>
            </a:r>
            <a:r>
              <a:rPr sz="2200" b="1" i="0">
                <a:solidFill>
                  <a:srgbClr val="F5F5F5"/>
                </a:solidFill>
              </a:rPr>
              <a:t>VAX still wasn't "real."</a:t>
            </a:r>
            <a:r>
              <a:rPr sz="2200" b="0" i="0">
                <a:solidFill>
                  <a:srgbClr val="F5F5F5"/>
                </a:solidFill>
              </a:rPr>
              <a:t> The </a:t>
            </a:r>
            <a:r>
              <a:rPr sz="2200" b="1" i="0">
                <a:solidFill>
                  <a:srgbClr val="F5F5F5"/>
                </a:solidFill>
              </a:rPr>
              <a:t>360</a:t>
            </a:r>
            <a:r>
              <a:rPr sz="2200" b="0" i="0">
                <a:solidFill>
                  <a:srgbClr val="F5F5F5"/>
                </a:solidFill>
              </a:rPr>
              <a:t> stayed the center of gravity.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Pattern Didn't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IDEs:</a:t>
            </a:r>
            <a:r>
              <a:rPr sz="2200" b="0" i="0">
                <a:solidFill>
                  <a:srgbClr val="F5F5F5"/>
                </a:solidFill>
              </a:rPr>
              <a:t> some faculty banned them — unless you used </a:t>
            </a:r>
            <a:r>
              <a:rPr sz="2200" b="1" i="0">
                <a:solidFill>
                  <a:srgbClr val="F5F5F5"/>
                </a:solidFill>
              </a:rPr>
              <a:t>vi</a:t>
            </a:r>
            <a:r>
              <a:rPr sz="2200" b="0" i="0">
                <a:solidFill>
                  <a:srgbClr val="F5F5F5"/>
                </a:solidFill>
              </a:rPr>
              <a:t> and </a:t>
            </a:r>
            <a:r>
              <a:rPr sz="2200" b="1" i="0">
                <a:solidFill>
                  <a:srgbClr val="F5F5F5"/>
                </a:solidFill>
              </a:rPr>
              <a:t>make</a:t>
            </a:r>
            <a:r>
              <a:rPr sz="2200" b="0" i="0">
                <a:solidFill>
                  <a:srgbClr val="F5F5F5"/>
                </a:solidFill>
              </a:rPr>
              <a:t>, it wasn't "real CS."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Tab completion:</a:t>
            </a:r>
            <a:r>
              <a:rPr sz="2200" b="0" i="0">
                <a:solidFill>
                  <a:srgbClr val="F5F5F5"/>
                </a:solidFill>
              </a:rPr>
              <a:t> a senior engineer wanted it </a:t>
            </a:r>
            <a:r>
              <a:rPr sz="2200" b="1" i="0">
                <a:solidFill>
                  <a:srgbClr val="F5F5F5"/>
                </a:solidFill>
              </a:rPr>
              <a:t>off</a:t>
            </a:r>
            <a:r>
              <a:rPr sz="2200" b="0" i="0">
                <a:solidFill>
                  <a:srgbClr val="F5F5F5"/>
                </a:solidFill>
              </a:rPr>
              <a:t> for juniors — too easy to tell who had </a:t>
            </a:r>
            <a:r>
              <a:rPr sz="2200" b="1" i="0">
                <a:solidFill>
                  <a:srgbClr val="F5F5F5"/>
                </a:solidFill>
              </a:rPr>
              <a:t>memorized the library incantations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Same mistake: </a:t>
            </a:r>
            <a:r>
              <a:rPr sz="2200" b="1" i="0">
                <a:solidFill>
                  <a:srgbClr val="F5F5F5"/>
                </a:solidFill>
              </a:rPr>
              <a:t>confusing ritual with skill</a:t>
            </a:r>
            <a:r>
              <a:rPr sz="2200" b="0" i="0">
                <a:solidFill>
                  <a:srgbClr val="F5F5F5"/>
                </a:solidFill>
              </a:rPr>
              <a:t> — difficulty as a </a:t>
            </a:r>
            <a:r>
              <a:rPr sz="2200" b="1" i="0">
                <a:solidFill>
                  <a:srgbClr val="F5F5F5"/>
                </a:solidFill>
              </a:rPr>
              <a:t>proxy for merit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Colleague, Early in My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 asked why he didn't program anymore.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"I don't need to practice. I already know it."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In his model, teaching CS was teaching </a:t>
            </a:r>
            <a:r>
              <a:rPr sz="2200" b="1" i="0">
                <a:solidFill>
                  <a:srgbClr val="F5F5F5"/>
                </a:solidFill>
              </a:rPr>
              <a:t>incantations</a:t>
            </a:r>
            <a:r>
              <a:rPr sz="2200" b="0" i="0">
                <a:solidFill>
                  <a:srgbClr val="F5F5F5"/>
                </a:solidFill>
              </a:rPr>
              <a:t> — A's meant you'd learned them — so you </a:t>
            </a:r>
            <a:r>
              <a:rPr sz="2200" b="1" i="0">
                <a:solidFill>
                  <a:srgbClr val="F5F5F5"/>
                </a:solidFill>
              </a:rPr>
              <a:t>were</a:t>
            </a:r>
            <a:r>
              <a:rPr sz="2200" b="0" i="0">
                <a:solidFill>
                  <a:srgbClr val="F5F5F5"/>
                </a:solidFill>
              </a:rPr>
              <a:t> a computer scientist. </a:t>
            </a:r>
            <a:r>
              <a:rPr sz="2200" b="1" i="0">
                <a:solidFill>
                  <a:srgbClr val="F5F5F5"/>
                </a:solidFill>
              </a:rPr>
              <a:t>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Magicians and Wizards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world doesn't want </a:t>
            </a:r>
            <a:r>
              <a:rPr sz="2200" b="1" i="0">
                <a:solidFill>
                  <a:srgbClr val="F5F5F5"/>
                </a:solidFill>
              </a:rPr>
              <a:t>magicians who repeat the old magic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It wants </a:t>
            </a:r>
            <a:r>
              <a:rPr sz="2200" b="1" i="0">
                <a:solidFill>
                  <a:srgbClr val="F5F5F5"/>
                </a:solidFill>
              </a:rPr>
              <a:t>wizards</a:t>
            </a:r>
            <a:r>
              <a:rPr sz="2200" b="0" i="0">
                <a:solidFill>
                  <a:srgbClr val="F5F5F5"/>
                </a:solidFill>
              </a:rPr>
              <a:t> who </a:t>
            </a:r>
            <a:r>
              <a:rPr sz="2200" b="1" i="0">
                <a:solidFill>
                  <a:srgbClr val="F5F5F5"/>
                </a:solidFill>
              </a:rPr>
              <a:t>see problems</a:t>
            </a:r>
            <a:r>
              <a:rPr sz="2200" b="0" i="0">
                <a:solidFill>
                  <a:srgbClr val="F5F5F5"/>
                </a:solidFill>
              </a:rPr>
              <a:t>, build </a:t>
            </a:r>
            <a:r>
              <a:rPr sz="2200" b="1" i="0">
                <a:solidFill>
                  <a:srgbClr val="F5F5F5"/>
                </a:solidFill>
              </a:rPr>
              <a:t>solutions</a:t>
            </a:r>
            <a:r>
              <a:rPr sz="2200" b="0" i="0">
                <a:solidFill>
                  <a:srgbClr val="F5F5F5"/>
                </a:solidFill>
              </a:rPr>
              <a:t>, and leave </a:t>
            </a:r>
            <a:r>
              <a:rPr sz="2200" b="1" i="0">
                <a:solidFill>
                  <a:srgbClr val="F5F5F5"/>
                </a:solidFill>
              </a:rPr>
              <a:t>people glad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That Summer — Lead–Acid Batteries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My uncle broke down </a:t>
            </a:r>
            <a:r>
              <a:rPr sz="2200" b="1" i="0">
                <a:solidFill>
                  <a:srgbClr val="F5F5F5"/>
                </a:solidFill>
              </a:rPr>
              <a:t>forklift batteries</a:t>
            </a:r>
            <a:r>
              <a:rPr sz="2200" b="0" i="0">
                <a:solidFill>
                  <a:srgbClr val="F5F5F5"/>
                </a:solidFill>
              </a:rPr>
              <a:t> for recycling. We weighed cells (</a:t>
            </a:r>
            <a:r>
              <a:rPr sz="2200" b="1" i="0">
                <a:solidFill>
                  <a:srgbClr val="F5F5F5"/>
                </a:solidFill>
              </a:rPr>
              <a:t>50–160 kg</a:t>
            </a:r>
            <a:r>
              <a:rPr sz="2200" b="0" i="0">
                <a:solidFill>
                  <a:srgbClr val="F5F5F5"/>
                </a:solidFill>
              </a:rPr>
              <a:t>), counted cells, tallied, billed the </a:t>
            </a:r>
            <a:r>
              <a:rPr sz="2200" b="1" i="0">
                <a:solidFill>
                  <a:srgbClr val="F5F5F5"/>
                </a:solidFill>
              </a:rPr>
              <a:t>plant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I was the tally. I wrote </a:t>
            </a:r>
            <a:r>
              <a:rPr sz="2200" b="1" i="0">
                <a:solidFill>
                  <a:srgbClr val="F5F5F5"/>
                </a:solidFill>
              </a:rPr>
              <a:t>BASIC</a:t>
            </a:r>
            <a:r>
              <a:rPr sz="2200" b="0" i="0">
                <a:solidFill>
                  <a:srgbClr val="F5F5F5"/>
                </a:solidFill>
              </a:rPr>
              <a:t> on a </a:t>
            </a:r>
            <a:r>
              <a:rPr sz="2200" b="1" i="0">
                <a:solidFill>
                  <a:srgbClr val="F5F5F5"/>
                </a:solidFill>
              </a:rPr>
              <a:t>TRS-80 Model I</a:t>
            </a:r>
            <a:r>
              <a:rPr sz="2200" b="0" i="0">
                <a:solidFill>
                  <a:srgbClr val="F5F5F5"/>
                </a:solidFill>
              </a:rPr>
              <a:t> — end-of-day totals, </a:t>
            </a:r>
            <a:r>
              <a:rPr sz="2200" b="1" i="0">
                <a:solidFill>
                  <a:srgbClr val="F5F5F5"/>
                </a:solidFill>
              </a:rPr>
              <a:t>saved</a:t>
            </a:r>
            <a:r>
              <a:rPr sz="2200" b="0" i="0">
                <a:solidFill>
                  <a:srgbClr val="F5F5F5"/>
                </a:solidFill>
              </a:rPr>
              <a:t>, </a:t>
            </a:r>
            <a:r>
              <a:rPr sz="2200" b="1" i="0">
                <a:solidFill>
                  <a:srgbClr val="F5F5F5"/>
                </a:solidFill>
              </a:rPr>
              <a:t>auditable</a:t>
            </a:r>
            <a:r>
              <a:rPr sz="2200" b="0" i="0">
                <a:solidFill>
                  <a:srgbClr val="F5F5F5"/>
                </a:solidFill>
              </a:rPr>
              <a:t> if we mistyped.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First Time I Delighted a "Customer"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Me</a:t>
            </a:r>
            <a:r>
              <a:rPr sz="2200" b="0" i="0">
                <a:solidFill>
                  <a:srgbClr val="F5F5F5"/>
                </a:solidFill>
              </a:rPr>
              <a:t> — less pain doing the books. My </a:t>
            </a:r>
            <a:r>
              <a:rPr sz="2200" b="1" i="0">
                <a:solidFill>
                  <a:srgbClr val="F5F5F5"/>
                </a:solidFill>
              </a:rPr>
              <a:t>uncle</a:t>
            </a:r>
            <a:r>
              <a:rPr sz="2200" b="0" i="0">
                <a:solidFill>
                  <a:srgbClr val="F5F5F5"/>
                </a:solidFill>
              </a:rPr>
              <a:t> — faster, more accurate billing.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machine the professor said wasn't for </a:t>
            </a:r>
            <a:r>
              <a:rPr sz="2200" b="1" i="0">
                <a:solidFill>
                  <a:srgbClr val="F5F5F5"/>
                </a:solidFill>
              </a:rPr>
              <a:t>real</a:t>
            </a:r>
            <a:r>
              <a:rPr sz="2200" b="0" i="0">
                <a:solidFill>
                  <a:srgbClr val="F5F5F5"/>
                </a:solidFill>
              </a:rPr>
              <a:t> CS was for </a:t>
            </a:r>
            <a:r>
              <a:rPr sz="2200" b="1" i="0">
                <a:solidFill>
                  <a:srgbClr val="F5F5F5"/>
                </a:solidFill>
              </a:rPr>
              <a:t>real</a:t>
            </a:r>
            <a:r>
              <a:rPr sz="2200" b="0" i="0">
                <a:solidFill>
                  <a:srgbClr val="F5F5F5"/>
                </a:solidFill>
              </a:rPr>
              <a:t> work — checkable, useful, </a:t>
            </a:r>
            <a:r>
              <a:rPr sz="2200" b="1" i="0">
                <a:solidFill>
                  <a:srgbClr val="F5F5F5"/>
                </a:solidFill>
              </a:rPr>
              <a:t>human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Morning in 1905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A blacksmith didn't wake up one morning to find horses gone and Model Ts parked outside his shop.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change </a:t>
            </a:r>
            <a:r>
              <a:rPr sz="2200" b="1" i="0">
                <a:solidFill>
                  <a:srgbClr val="F5F5F5"/>
                </a:solidFill>
              </a:rPr>
              <a:t>crept in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First it was a neighbor asking if he could straighten a bent axle.</a:t>
            </a: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Then it was fabricating a bracket that didn't exist yet because no parts catalog did either.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Running example: a real person with a real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Summer job — my uncle’s shop.</a:t>
            </a:r>
            <a:r>
              <a:rPr sz="2200" b="0" i="0">
                <a:solidFill>
                  <a:srgbClr val="F5F5F5"/>
                </a:solidFill>
              </a:rPr>
              <a:t> Forklift batteries in for recycling.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actual work: </a:t>
            </a:r>
            <a:r>
              <a:rPr sz="2200" b="1" i="0">
                <a:solidFill>
                  <a:srgbClr val="F5F5F5"/>
                </a:solidFill>
              </a:rPr>
              <a:t>weigh</a:t>
            </a:r>
            <a:r>
              <a:rPr sz="2200" b="0" i="0">
                <a:solidFill>
                  <a:srgbClr val="F5F5F5"/>
                </a:solidFill>
              </a:rPr>
              <a:t> each unit on the scale, </a:t>
            </a:r>
            <a:r>
              <a:rPr sz="2200" b="1" i="0">
                <a:solidFill>
                  <a:srgbClr val="F5F5F5"/>
                </a:solidFill>
              </a:rPr>
              <a:t>record how many cells</a:t>
            </a:r>
            <a:r>
              <a:rPr sz="2200" b="0" i="0">
                <a:solidFill>
                  <a:srgbClr val="F5F5F5"/>
                </a:solidFill>
              </a:rPr>
              <a:t>, </a:t>
            </a:r>
            <a:r>
              <a:rPr sz="2200" b="1" i="0">
                <a:solidFill>
                  <a:srgbClr val="F5F5F5"/>
                </a:solidFill>
              </a:rPr>
              <a:t>tally</a:t>
            </a:r>
            <a:r>
              <a:rPr sz="2200" b="0" i="0">
                <a:solidFill>
                  <a:srgbClr val="F5F5F5"/>
                </a:solidFill>
              </a:rPr>
              <a:t> everything for the day, </a:t>
            </a:r>
            <a:r>
              <a:rPr sz="2200" b="1" i="0">
                <a:solidFill>
                  <a:srgbClr val="F5F5F5"/>
                </a:solidFill>
              </a:rPr>
              <a:t>submit the bill</a:t>
            </a:r>
            <a:r>
              <a:rPr sz="2200" b="0" i="0">
                <a:solidFill>
                  <a:srgbClr val="F5F5F5"/>
                </a:solidFill>
              </a:rPr>
              <a:t> to the recycling plant — and deal with the fact that people </a:t>
            </a:r>
            <a:r>
              <a:rPr sz="2200" b="1" i="0">
                <a:solidFill>
                  <a:srgbClr val="F5F5F5"/>
                </a:solidFill>
              </a:rPr>
              <a:t>mistype</a:t>
            </a:r>
            <a:r>
              <a:rPr sz="2200" b="0" i="0">
                <a:solidFill>
                  <a:srgbClr val="F5F5F5"/>
                </a:solidFill>
              </a:rPr>
              <a:t> and still need the books to </a:t>
            </a:r>
            <a:r>
              <a:rPr sz="2200" b="1" i="0">
                <a:solidFill>
                  <a:srgbClr val="F5F5F5"/>
                </a:solidFill>
              </a:rPr>
              <a:t>close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Not a programming problem on day one. A </a:t>
            </a:r>
            <a:r>
              <a:rPr sz="2200" b="1" i="0">
                <a:solidFill>
                  <a:srgbClr val="F5F5F5"/>
                </a:solidFill>
              </a:rPr>
              <a:t>human</a:t>
            </a:r>
            <a:r>
              <a:rPr sz="2200" b="0" i="0">
                <a:solidFill>
                  <a:srgbClr val="F5F5F5"/>
                </a:solidFill>
              </a:rPr>
              <a:t> losing time and trust to arithmetic and paperwork.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Understand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What does </a:t>
            </a:r>
            <a:r>
              <a:rPr sz="2200" b="1" i="0">
                <a:solidFill>
                  <a:srgbClr val="F5F5F5"/>
                </a:solidFill>
              </a:rPr>
              <a:t>done</a:t>
            </a:r>
            <a:r>
              <a:rPr sz="2200" b="0" i="0">
                <a:solidFill>
                  <a:srgbClr val="F5F5F5"/>
                </a:solidFill>
              </a:rPr>
              <a:t> look like? Faster tally, fewer errors, and numbers you can </a:t>
            </a:r>
            <a:r>
              <a:rPr sz="2200" b="1" i="0">
                <a:solidFill>
                  <a:srgbClr val="F5F5F5"/>
                </a:solidFill>
              </a:rPr>
              <a:t>defend</a:t>
            </a:r>
            <a:r>
              <a:rPr sz="2200" b="0" i="0">
                <a:solidFill>
                  <a:srgbClr val="F5F5F5"/>
                </a:solidFill>
              </a:rPr>
              <a:t> if the plant or your own crew asks “where did this come from?”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What are the </a:t>
            </a:r>
            <a:r>
              <a:rPr sz="2200" b="1" i="0">
                <a:solidFill>
                  <a:srgbClr val="F5F5F5"/>
                </a:solidFill>
              </a:rPr>
              <a:t>constraints</a:t>
            </a:r>
            <a:r>
              <a:rPr sz="2200" b="0" i="0">
                <a:solidFill>
                  <a:srgbClr val="F5F5F5"/>
                </a:solidFill>
              </a:rPr>
              <a:t>? Who runs it, on what machine, with what patience — </a:t>
            </a:r>
            <a:r>
              <a:rPr sz="2200" b="1" i="0">
                <a:solidFill>
                  <a:srgbClr val="F5F5F5"/>
                </a:solidFill>
              </a:rPr>
              <a:t>no IT department</a:t>
            </a:r>
            <a:r>
              <a:rPr sz="2200" b="0" i="0">
                <a:solidFill>
                  <a:srgbClr val="F5F5F5"/>
                </a:solidFill>
              </a:rPr>
              <a:t>, no appetite for cleverness that only the author understands.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You don’t open an editor yet. You </a:t>
            </a:r>
            <a:r>
              <a:rPr sz="2200" b="1" i="0">
                <a:solidFill>
                  <a:srgbClr val="F5F5F5"/>
                </a:solidFill>
              </a:rPr>
              <a:t>interview the work</a:t>
            </a:r>
            <a:r>
              <a:rPr sz="2200" b="0" i="0">
                <a:solidFill>
                  <a:srgbClr val="F5F5F5"/>
                </a:solidFill>
              </a:rPr>
              <a:t> until the success criteria are boringly 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Understand how to automate it — that creates sub-problems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Automation isn’t one miracle button. It’s </a:t>
            </a:r>
            <a:r>
              <a:rPr sz="2200" b="1" i="0">
                <a:solidFill>
                  <a:srgbClr val="F5F5F5"/>
                </a:solidFill>
              </a:rPr>
              <a:t>decomposition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Typical threads: </a:t>
            </a:r>
            <a:r>
              <a:rPr sz="2200" b="1" i="0">
                <a:solidFill>
                  <a:srgbClr val="F5F5F5"/>
                </a:solidFill>
              </a:rPr>
              <a:t>capture</a:t>
            </a:r>
            <a:r>
              <a:rPr sz="2200" b="0" i="0">
                <a:solidFill>
                  <a:srgbClr val="F5F5F5"/>
                </a:solidFill>
              </a:rPr>
              <a:t> weights and counts safely → </a:t>
            </a:r>
            <a:r>
              <a:rPr sz="2200" b="1" i="0">
                <a:solidFill>
                  <a:srgbClr val="F5F5F5"/>
                </a:solidFill>
              </a:rPr>
              <a:t>accumulate</a:t>
            </a:r>
            <a:r>
              <a:rPr sz="2200" b="0" i="0">
                <a:solidFill>
                  <a:srgbClr val="F5F5F5"/>
                </a:solidFill>
              </a:rPr>
              <a:t> totals correctly → </a:t>
            </a:r>
            <a:r>
              <a:rPr sz="2200" b="1" i="0">
                <a:solidFill>
                  <a:srgbClr val="F5F5F5"/>
                </a:solidFill>
              </a:rPr>
              <a:t>end-of-day report</a:t>
            </a:r>
            <a:r>
              <a:rPr sz="2200" b="0" i="0">
                <a:solidFill>
                  <a:srgbClr val="F5F5F5"/>
                </a:solidFill>
              </a:rPr>
              <a:t> the business trusts → </a:t>
            </a:r>
            <a:r>
              <a:rPr sz="2200" b="1" i="0">
                <a:solidFill>
                  <a:srgbClr val="F5F5F5"/>
                </a:solidFill>
              </a:rPr>
              <a:t>persist / correct</a:t>
            </a:r>
            <a:r>
              <a:rPr sz="2200" b="0" i="0">
                <a:solidFill>
                  <a:srgbClr val="F5F5F5"/>
                </a:solidFill>
              </a:rPr>
              <a:t> enough to back out a bad entry without replaying everything.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Each thread is a </a:t>
            </a:r>
            <a:r>
              <a:rPr sz="2200" b="1" i="0">
                <a:solidFill>
                  <a:srgbClr val="F5F5F5"/>
                </a:solidFill>
              </a:rPr>
              <a:t>small bet</a:t>
            </a:r>
            <a:r>
              <a:rPr sz="2200" b="0" i="0">
                <a:solidFill>
                  <a:srgbClr val="F5F5F5"/>
                </a:solidFill>
              </a:rPr>
              <a:t> you can test against reality before you pretend you’re “done.”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For each sub-problem: code. Then put the pieces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Ship the </a:t>
            </a:r>
            <a:r>
              <a:rPr sz="2200" b="1" i="0">
                <a:solidFill>
                  <a:srgbClr val="F5F5F5"/>
                </a:solidFill>
              </a:rPr>
              <a:t>smallest proof</a:t>
            </a:r>
            <a:r>
              <a:rPr sz="2200" b="0" i="0">
                <a:solidFill>
                  <a:srgbClr val="F5F5F5"/>
                </a:solidFill>
              </a:rPr>
              <a:t> per piece (input loop, running totals, printable tally, save or “fix last line” — tune to your story on stage).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Integration is the product:</a:t>
            </a:r>
            <a:r>
              <a:rPr sz="2200" b="0" i="0">
                <a:solidFill>
                  <a:srgbClr val="F5F5F5"/>
                </a:solidFill>
              </a:rPr>
              <a:t> shared data, clear handoffs, and </a:t>
            </a:r>
            <a:r>
              <a:rPr sz="2200" b="1" i="0">
                <a:solidFill>
                  <a:srgbClr val="F5F5F5"/>
                </a:solidFill>
              </a:rPr>
              <a:t>one error</a:t>
            </a:r>
            <a:r>
              <a:rPr sz="2200" b="0" i="0">
                <a:solidFill>
                  <a:srgbClr val="F5F5F5"/>
                </a:solidFill>
              </a:rPr>
              <a:t> shouldn’t corrupt the whole day.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Goal: something </a:t>
            </a:r>
            <a:r>
              <a:rPr sz="2200" b="1" i="0">
                <a:solidFill>
                  <a:srgbClr val="F5F5F5"/>
                </a:solidFill>
              </a:rPr>
              <a:t>they</a:t>
            </a:r>
            <a:r>
              <a:rPr sz="2200" b="0" i="0">
                <a:solidFill>
                  <a:srgbClr val="F5F5F5"/>
                </a:solidFill>
              </a:rPr>
              <a:t> can run — and </a:t>
            </a:r>
            <a:r>
              <a:rPr sz="2200" b="1" i="0">
                <a:solidFill>
                  <a:srgbClr val="F5F5F5"/>
                </a:solidFill>
              </a:rPr>
              <a:t>defend</a:t>
            </a:r>
            <a:r>
              <a:rPr sz="2200" b="0" i="0">
                <a:solidFill>
                  <a:srgbClr val="F5F5F5"/>
                </a:solidFill>
              </a:rPr>
              <a:t> to the plant — not a program only you understand.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Happy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My uncle wasn’t grading my </a:t>
            </a:r>
            <a:r>
              <a:rPr sz="2200" b="1" i="0">
                <a:solidFill>
                  <a:srgbClr val="F5F5F5"/>
                </a:solidFill>
              </a:rPr>
              <a:t>style</a:t>
            </a:r>
            <a:r>
              <a:rPr sz="2200" b="0" i="0">
                <a:solidFill>
                  <a:srgbClr val="F5F5F5"/>
                </a:solidFill>
              </a:rPr>
              <a:t>. He wanted the </a:t>
            </a:r>
            <a:r>
              <a:rPr sz="2200" b="1" i="0">
                <a:solidFill>
                  <a:srgbClr val="F5F5F5"/>
                </a:solidFill>
              </a:rPr>
              <a:t>day closed clean</a:t>
            </a:r>
            <a:r>
              <a:rPr sz="2200" b="0" i="0">
                <a:solidFill>
                  <a:srgbClr val="F5F5F5"/>
                </a:solidFill>
              </a:rPr>
              <a:t>: less time reconciling, numbers that held up.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First time I felt what this work is for</a:t>
            </a:r>
            <a:r>
              <a:rPr sz="2200" b="0" i="0">
                <a:solidFill>
                  <a:srgbClr val="F5F5F5"/>
                </a:solidFill>
              </a:rPr>
              <a:t> — a </a:t>
            </a:r>
            <a:r>
              <a:rPr sz="2200" b="1" i="0">
                <a:solidFill>
                  <a:srgbClr val="F5F5F5"/>
                </a:solidFill>
              </a:rPr>
              <a:t>delighted customer</a:t>
            </a:r>
            <a:r>
              <a:rPr sz="2200" b="0" i="0">
                <a:solidFill>
                  <a:srgbClr val="F5F5F5"/>
                </a:solidFill>
              </a:rPr>
              <a:t> (even when the customer was family).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That’s the bar we skip when we teach </a:t>
            </a:r>
            <a:r>
              <a:rPr sz="2200" b="1" i="0">
                <a:solidFill>
                  <a:srgbClr val="F5F5F5"/>
                </a:solidFill>
              </a:rPr>
              <a:t>incantations</a:t>
            </a:r>
            <a:r>
              <a:rPr sz="2200" b="0" i="0">
                <a:solidFill>
                  <a:srgbClr val="F5F5F5"/>
                </a:solidFill>
              </a:rPr>
              <a:t> instead of </a:t>
            </a:r>
            <a:r>
              <a:rPr sz="2200" b="1" i="0">
                <a:solidFill>
                  <a:srgbClr val="F5F5F5"/>
                </a:solidFill>
              </a:rPr>
              <a:t>building for someone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Part We Get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</a:t>
            </a:r>
            <a:r>
              <a:rPr sz="2200" b="1" i="0">
                <a:solidFill>
                  <a:srgbClr val="F5F5F5"/>
                </a:solidFill>
              </a:rPr>
              <a:t>horseshoe</a:t>
            </a:r>
            <a:r>
              <a:rPr sz="2200" b="0" i="0">
                <a:solidFill>
                  <a:srgbClr val="F5F5F5"/>
                </a:solidFill>
              </a:rPr>
              <a:t> was a known problem — heat, shape, nail it on.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</a:t>
            </a:r>
            <a:r>
              <a:rPr sz="2200" b="1" i="0">
                <a:solidFill>
                  <a:srgbClr val="F5F5F5"/>
                </a:solidFill>
              </a:rPr>
              <a:t>automobile</a:t>
            </a:r>
            <a:r>
              <a:rPr sz="2200" b="0" i="0">
                <a:solidFill>
                  <a:srgbClr val="F5F5F5"/>
                </a:solidFill>
              </a:rPr>
              <a:t> was something else: combustion, drivetrain, electrical systems, tolerances the smith had never seen.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Thing Being Built Got Harder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</a:t>
            </a:r>
            <a:r>
              <a:rPr sz="2200" b="1" i="0">
                <a:solidFill>
                  <a:srgbClr val="F5F5F5"/>
                </a:solidFill>
              </a:rPr>
              <a:t>complexity</a:t>
            </a:r>
            <a:r>
              <a:rPr sz="2200" b="0" i="0">
                <a:solidFill>
                  <a:srgbClr val="F5F5F5"/>
                </a:solidFill>
              </a:rPr>
              <a:t> forced the transition — not the mere arrival of a new machine.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Understanding metal and stress didn't become </a:t>
            </a:r>
            <a:r>
              <a:rPr sz="2200" b="1" i="0">
                <a:solidFill>
                  <a:srgbClr val="F5F5F5"/>
                </a:solidFill>
              </a:rPr>
              <a:t>less</a:t>
            </a:r>
            <a:r>
              <a:rPr sz="2200" b="0" i="0">
                <a:solidFill>
                  <a:srgbClr val="F5F5F5"/>
                </a:solidFill>
              </a:rPr>
              <a:t> important. It became </a:t>
            </a:r>
            <a:r>
              <a:rPr sz="2200" b="1" i="0">
                <a:solidFill>
                  <a:srgbClr val="F5F5F5"/>
                </a:solidFill>
              </a:rPr>
              <a:t>more</a:t>
            </a:r>
            <a:r>
              <a:rPr sz="2200" b="0" i="0">
                <a:solidFill>
                  <a:srgbClr val="F5F5F5"/>
                </a:solidFill>
              </a:rPr>
              <a:t> — the automobile demanded a </a:t>
            </a:r>
            <a:r>
              <a:rPr sz="2200" b="1" i="0">
                <a:solidFill>
                  <a:srgbClr val="F5F5F5"/>
                </a:solidFill>
              </a:rPr>
              <a:t>deeper</a:t>
            </a:r>
            <a:r>
              <a:rPr sz="2200" b="0" i="0">
                <a:solidFill>
                  <a:srgbClr val="F5F5F5"/>
                </a:solidFill>
              </a:rPr>
              <a:t> version of the same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Tools That Match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pneumatic press. The torque wrench. The diagnostic gauge.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They didn't replace expertise. They were </a:t>
            </a:r>
            <a:r>
              <a:rPr sz="2200" b="1" i="0">
                <a:solidFill>
                  <a:srgbClr val="F5F5F5"/>
                </a:solidFill>
              </a:rPr>
              <a:t>necessary</a:t>
            </a:r>
            <a:r>
              <a:rPr sz="2200" b="0" i="0">
                <a:solidFill>
                  <a:srgbClr val="F5F5F5"/>
                </a:solidFill>
              </a:rPr>
              <a:t> because the problem </a:t>
            </a:r>
            <a:r>
              <a:rPr sz="2200" b="1" i="0">
                <a:solidFill>
                  <a:srgbClr val="F5F5F5"/>
                </a:solidFill>
              </a:rPr>
              <a:t>outgrew</a:t>
            </a:r>
            <a:r>
              <a:rPr sz="2200" b="0" i="0">
                <a:solidFill>
                  <a:srgbClr val="F5F5F5"/>
                </a:solidFill>
              </a:rPr>
              <a:t> the hammer and anvil.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Blacksmith Who Thrived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Not the one who kept shoeing horses from </a:t>
            </a:r>
            <a:r>
              <a:rPr sz="2200" b="1" i="0">
                <a:solidFill>
                  <a:srgbClr val="F5F5F5"/>
                </a:solidFill>
              </a:rPr>
              <a:t>stubbornness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Not the one who </a:t>
            </a:r>
            <a:r>
              <a:rPr sz="2200" b="1" i="0">
                <a:solidFill>
                  <a:srgbClr val="F5F5F5"/>
                </a:solidFill>
              </a:rPr>
              <a:t>panicked</a:t>
            </a:r>
            <a:r>
              <a:rPr sz="2200" b="0" i="0">
                <a:solidFill>
                  <a:srgbClr val="F5F5F5"/>
                </a:solidFill>
              </a:rPr>
              <a:t> and threw away what he knew.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one who saw the real skill was </a:t>
            </a:r>
            <a:r>
              <a:rPr sz="2200" b="1" i="0">
                <a:solidFill>
                  <a:srgbClr val="F5F5F5"/>
                </a:solidFill>
              </a:rPr>
              <a:t>how metal behaves under force</a:t>
            </a:r>
            <a:r>
              <a:rPr sz="2200" b="0" i="0">
                <a:solidFill>
                  <a:srgbClr val="F5F5F5"/>
                </a:solidFill>
              </a:rPr>
              <a:t> — carried into a </a:t>
            </a:r>
            <a:r>
              <a:rPr sz="2200" b="1" i="0">
                <a:solidFill>
                  <a:srgbClr val="F5F5F5"/>
                </a:solidFill>
              </a:rPr>
              <a:t>harder</a:t>
            </a:r>
            <a:r>
              <a:rPr sz="2200" b="0" i="0">
                <a:solidFill>
                  <a:srgbClr val="F5F5F5"/>
                </a:solidFill>
              </a:rPr>
              <a:t> problem with </a:t>
            </a:r>
            <a:r>
              <a:rPr sz="2200" b="1" i="0">
                <a:solidFill>
                  <a:srgbClr val="F5F5F5"/>
                </a:solidFill>
              </a:rPr>
              <a:t>new tools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05840"/>
            <a:ext cx="85340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486400"/>
            <a:ext cx="85340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F5F5"/>
                </a:solidFill>
              </a:rPr>
              <a:t>We're living through that same kind of morning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Developer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An LLM can emit a function from a prompt — that doesn't make the work </a:t>
            </a:r>
            <a:r>
              <a:rPr sz="2200" b="1" i="0">
                <a:solidFill>
                  <a:srgbClr val="F5F5F5"/>
                </a:solidFill>
              </a:rPr>
              <a:t>simple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What we're asked to build is </a:t>
            </a:r>
            <a:r>
              <a:rPr sz="2200" b="1" i="0">
                <a:solidFill>
                  <a:srgbClr val="F5F5F5"/>
                </a:solidFill>
              </a:rPr>
              <a:t>more ambitious</a:t>
            </a:r>
            <a:r>
              <a:rPr sz="2200" b="0" i="0">
                <a:solidFill>
                  <a:srgbClr val="F5F5F5"/>
                </a:solidFill>
              </a:rPr>
              <a:t>: distributed, integrated, cross-platform, </a:t>
            </a:r>
            <a:r>
              <a:rPr sz="2200" b="1" i="0">
                <a:solidFill>
                  <a:srgbClr val="F5F5F5"/>
                </a:solidFill>
              </a:rPr>
              <a:t>always on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Pattern Repeats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LLM tooling can make you </a:t>
            </a:r>
            <a:r>
              <a:rPr sz="2200" b="1" i="0">
                <a:solidFill>
                  <a:srgbClr val="F5F5F5"/>
                </a:solidFill>
              </a:rPr>
              <a:t>faster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</a:t>
            </a:r>
            <a:r>
              <a:rPr sz="2200" b="1" i="0">
                <a:solidFill>
                  <a:srgbClr val="F5F5F5"/>
                </a:solidFill>
              </a:rPr>
              <a:t>artifact</a:t>
            </a:r>
            <a:r>
              <a:rPr sz="2200" b="0" i="0">
                <a:solidFill>
                  <a:srgbClr val="F5F5F5"/>
                </a:solidFill>
              </a:rPr>
              <a:t> still demands </a:t>
            </a:r>
            <a:r>
              <a:rPr sz="2200" b="1" i="0">
                <a:solidFill>
                  <a:srgbClr val="F5F5F5"/>
                </a:solidFill>
              </a:rPr>
              <a:t>deeper</a:t>
            </a:r>
            <a:r>
              <a:rPr sz="2200" b="0" i="0">
                <a:solidFill>
                  <a:srgbClr val="F5F5F5"/>
                </a:solidFill>
              </a:rPr>
              <a:t> understanding — not shallower.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New tools because the </a:t>
            </a:r>
            <a:r>
              <a:rPr sz="2200" b="1" i="0">
                <a:solidFill>
                  <a:srgbClr val="F5F5F5"/>
                </a:solidFill>
              </a:rPr>
              <a:t>problem got harder</a:t>
            </a:r>
            <a:r>
              <a:rPr sz="2200" b="0" i="0">
                <a:solidFill>
                  <a:srgbClr val="F5F5F5"/>
                </a:solidFill>
              </a:rPr>
              <a:t> — and the tools </a:t>
            </a:r>
            <a:r>
              <a:rPr sz="2200" b="1" i="0">
                <a:solidFill>
                  <a:srgbClr val="F5F5F5"/>
                </a:solidFill>
              </a:rPr>
              <a:t>require more</a:t>
            </a:r>
            <a:r>
              <a:rPr sz="2200" b="0" i="0">
                <a:solidFill>
                  <a:srgbClr val="F5F5F5"/>
                </a:solidFill>
              </a:rPr>
              <a:t> judgment, not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05840"/>
            <a:ext cx="85340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486400"/>
            <a:ext cx="85340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F5F5"/>
                </a:solidFill>
              </a:rPr>
              <a:t>Mistake the tool for the skill → build fast, debug forever.</a:t>
            </a:r>
          </a:p>
          <a:p>
            <a:pPr algn="ctr">
              <a:spcBef>
                <a:spcPts val="1400"/>
              </a:spcBef>
            </a:pPr>
            <a:r>
              <a:rPr sz="2800" b="0" i="1">
                <a:solidFill>
                  <a:srgbClr val="F5F5F5"/>
                </a:solidFill>
              </a:rPr>
              <a:t>Refuse the tool entirely → build carefully, ship never.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Who Will Thrive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Not those who think </a:t>
            </a:r>
            <a:r>
              <a:rPr sz="2200" b="1" i="0">
                <a:solidFill>
                  <a:srgbClr val="F5F5F5"/>
                </a:solidFill>
              </a:rPr>
              <a:t>typing syntax</a:t>
            </a:r>
            <a:r>
              <a:rPr sz="2200" b="0" i="0">
                <a:solidFill>
                  <a:srgbClr val="F5F5F5"/>
                </a:solidFill>
              </a:rPr>
              <a:t> was the job.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Not those who think </a:t>
            </a:r>
            <a:r>
              <a:rPr sz="2200" b="1" i="0">
                <a:solidFill>
                  <a:srgbClr val="F5F5F5"/>
                </a:solidFill>
              </a:rPr>
              <a:t>prompting</a:t>
            </a:r>
            <a:r>
              <a:rPr sz="2200" b="0" i="0">
                <a:solidFill>
                  <a:srgbClr val="F5F5F5"/>
                </a:solidFill>
              </a:rPr>
              <a:t> replaces </a:t>
            </a:r>
            <a:r>
              <a:rPr sz="2200" b="1" i="0">
                <a:solidFill>
                  <a:srgbClr val="F5F5F5"/>
                </a:solidFill>
              </a:rPr>
              <a:t>knowing what the system does</a:t>
            </a:r>
            <a:r>
              <a:rPr sz="22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skill was always </a:t>
            </a:r>
            <a:r>
              <a:rPr sz="2200" b="1" i="0">
                <a:solidFill>
                  <a:srgbClr val="F5F5F5"/>
                </a:solidFill>
              </a:rPr>
              <a:t>decomposing problems</a:t>
            </a:r>
            <a:r>
              <a:rPr sz="2200" b="0" i="0">
                <a:solidFill>
                  <a:srgbClr val="F5F5F5"/>
                </a:solidFill>
              </a:rPr>
              <a:t>, </a:t>
            </a:r>
            <a:r>
              <a:rPr sz="2200" b="1" i="0">
                <a:solidFill>
                  <a:srgbClr val="F5F5F5"/>
                </a:solidFill>
              </a:rPr>
              <a:t>seeing systems</a:t>
            </a:r>
            <a:r>
              <a:rPr sz="2200" b="0" i="0">
                <a:solidFill>
                  <a:srgbClr val="F5F5F5"/>
                </a:solidFill>
              </a:rPr>
              <a:t>, knowing what </a:t>
            </a:r>
            <a:r>
              <a:rPr sz="2200" b="1" i="0">
                <a:solidFill>
                  <a:srgbClr val="F5F5F5"/>
                </a:solidFill>
              </a:rPr>
              <a:t>correct</a:t>
            </a:r>
            <a:r>
              <a:rPr sz="2200" b="0" i="0">
                <a:solidFill>
                  <a:srgbClr val="F5F5F5"/>
                </a:solidFill>
              </a:rPr>
              <a:t> looks 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Garage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shop became a </a:t>
            </a:r>
            <a:r>
              <a:rPr sz="2200" b="1" i="0">
                <a:solidFill>
                  <a:srgbClr val="F5F5F5"/>
                </a:solidFill>
              </a:rPr>
              <a:t>garage</a:t>
            </a:r>
            <a:r>
              <a:rPr sz="2200" b="0" i="0">
                <a:solidFill>
                  <a:srgbClr val="F5F5F5"/>
                </a:solidFill>
              </a:rPr>
              <a:t>. It didn't need </a:t>
            </a:r>
            <a:r>
              <a:rPr sz="2200" b="1" i="0">
                <a:solidFill>
                  <a:srgbClr val="F5F5F5"/>
                </a:solidFill>
              </a:rPr>
              <a:t>fewer</a:t>
            </a:r>
            <a:r>
              <a:rPr sz="2200" b="0" i="0">
                <a:solidFill>
                  <a:srgbClr val="F5F5F5"/>
                </a:solidFill>
              </a:rPr>
              <a:t> skills — it needed </a:t>
            </a:r>
            <a:r>
              <a:rPr sz="2200" b="1" i="0">
                <a:solidFill>
                  <a:srgbClr val="F5F5F5"/>
                </a:solidFill>
              </a:rPr>
              <a:t>different</a:t>
            </a:r>
            <a:r>
              <a:rPr sz="2200" b="0" i="0">
                <a:solidFill>
                  <a:srgbClr val="F5F5F5"/>
                </a:solidFill>
              </a:rPr>
              <a:t> ones, same foundation, </a:t>
            </a:r>
            <a:r>
              <a:rPr sz="2200" b="1" i="0">
                <a:solidFill>
                  <a:srgbClr val="F5F5F5"/>
                </a:solidFill>
              </a:rPr>
              <a:t>harder</a:t>
            </a:r>
            <a:r>
              <a:rPr sz="2200" b="0" i="0">
                <a:solidFill>
                  <a:srgbClr val="F5F5F5"/>
                </a:solidFill>
              </a:rPr>
              <a:t> brief.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Same for every IDE with an </a:t>
            </a:r>
            <a:r>
              <a:rPr sz="2200" b="1" i="0">
                <a:solidFill>
                  <a:srgbClr val="F5F5F5"/>
                </a:solidFill>
              </a:rPr>
              <a:t>AI tab</a:t>
            </a:r>
            <a:r>
              <a:rPr sz="2200" b="0" i="0">
                <a:solidFill>
                  <a:srgbClr val="F5F5F5"/>
                </a:solidFill>
              </a:rPr>
              <a:t> next to the terminal.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05840"/>
            <a:ext cx="85340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486400"/>
            <a:ext cx="85340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F5F5"/>
                </a:solidFill>
              </a:rPr>
              <a:t>The question isn't only "how do we teach when students have AI?"</a:t>
            </a:r>
          </a:p>
          <a:p>
            <a:pPr algn="ctr">
              <a:spcBef>
                <a:spcPts val="1400"/>
              </a:spcBef>
            </a:pPr>
            <a:r>
              <a:rPr sz="2800" b="0" i="1">
                <a:solidFill>
                  <a:srgbClr val="F5F5F5"/>
                </a:solidFill>
              </a:rPr>
              <a:t>It's how we prepare them for work that is </a:t>
            </a:r>
            <a:r>
              <a:rPr sz="2800" b="1" i="1">
                <a:solidFill>
                  <a:srgbClr val="F5F5F5"/>
                </a:solidFill>
              </a:rPr>
              <a:t>fundamentally more complex</a:t>
            </a:r>
            <a:r>
              <a:rPr sz="2800" b="0" i="1">
                <a:solidFill>
                  <a:srgbClr val="F5F5F5"/>
                </a:solidFill>
              </a:rPr>
              <a:t> than a decade ago.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082009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Not:</a:t>
            </a:r>
            <a:r>
              <a:rPr sz="2200" b="0" i="0">
                <a:solidFill>
                  <a:srgbClr val="F5F5F5"/>
                </a:solidFill>
              </a:rPr>
              <a:t> How do we teach when students have AI?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5F5F5"/>
                </a:solidFill>
              </a:rPr>
              <a:t>But:</a:t>
            </a:r>
            <a:r>
              <a:rPr sz="2200" b="0" i="0">
                <a:solidFill>
                  <a:srgbClr val="F5F5F5"/>
                </a:solidFill>
              </a:rPr>
              <a:t> How do we teach </a:t>
            </a:r>
            <a:r>
              <a:rPr sz="2200" b="1" i="0">
                <a:solidFill>
                  <a:srgbClr val="F5F5F5"/>
                </a:solidFill>
              </a:rPr>
              <a:t>building</a:t>
            </a:r>
            <a:r>
              <a:rPr sz="2200" b="0" i="0">
                <a:solidFill>
                  <a:srgbClr val="F5F5F5"/>
                </a:solidFill>
              </a:rPr>
              <a:t> for problems that won't fit last decade's homework shapes?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The transition is </a:t>
            </a:r>
            <a:r>
              <a:rPr sz="2200" b="1" i="0">
                <a:solidFill>
                  <a:srgbClr val="F5F5F5"/>
                </a:solidFill>
              </a:rPr>
              <a:t>deeper understanding</a:t>
            </a:r>
            <a:r>
              <a:rPr sz="2200" b="0" i="0">
                <a:solidFill>
                  <a:srgbClr val="F5F5F5"/>
                </a:solidFill>
              </a:rPr>
              <a:t> — with tools that match the </a:t>
            </a:r>
            <a:r>
              <a:rPr sz="2200" b="1" i="0">
                <a:solidFill>
                  <a:srgbClr val="F5F5F5"/>
                </a:solidFill>
              </a:rPr>
              <a:t>real</a:t>
            </a:r>
            <a:r>
              <a:rPr sz="2200" b="0" i="0">
                <a:solidFill>
                  <a:srgbClr val="F5F5F5"/>
                </a:solidFill>
              </a:rPr>
              <a:t> problem.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5F5F5"/>
                </a:solidFill>
              </a:rPr>
              <a:t>That's the transition. That's </a:t>
            </a:r>
            <a:r>
              <a:rPr sz="2200" b="1" i="0">
                <a:solidFill>
                  <a:srgbClr val="F5F5F5"/>
                </a:solidFill>
              </a:rPr>
              <a:t>always</a:t>
            </a:r>
            <a:r>
              <a:rPr sz="2200" b="0" i="0">
                <a:solidFill>
                  <a:srgbClr val="F5F5F5"/>
                </a:solidFill>
              </a:rPr>
              <a:t> been the transition.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